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9" r:id="rId3"/>
    <p:sldId id="28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1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9" r:id="rId29"/>
    <p:sldId id="290" r:id="rId30"/>
    <p:sldId id="284" r:id="rId31"/>
    <p:sldId id="285" r:id="rId32"/>
    <p:sldId id="286" r:id="rId33"/>
    <p:sldId id="287" r:id="rId34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6"/>
  </p:normalViewPr>
  <p:slideViewPr>
    <p:cSldViewPr snapToGrid="0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FD8AD-0CD3-3C45-B91C-07AF83C33629}" type="datetimeFigureOut">
              <a:rPr lang="en-JP" smtClean="0"/>
              <a:t>2024/10/22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EA929-EE9D-D347-BE5C-35AF81F3BBD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3361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8869-78B9-380F-B187-CAEF0F8DB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31FA82-EB62-D09B-24BE-BA6DC0328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E9314-7FE0-3727-0A5D-8BE3EEC52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46B5-8F72-E84A-836F-4A402E0ED455}" type="datetime1">
              <a:rPr lang="en-US" smtClean="0"/>
              <a:t>10/22/24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4C934-D2AC-6755-6B97-ED7B93EE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4B627-4D73-0223-742B-2DACF1EB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8545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C7E0-FF52-EC2F-0256-A4BB15AC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27687-6A41-2D19-56F2-2B93E4590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27D8F-2978-D38A-7426-939A4E84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3B2D-50C6-F14F-AD73-6EE7101B1C1E}" type="datetime1">
              <a:rPr lang="en-US" smtClean="0"/>
              <a:t>10/22/24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22E3A-522C-34A6-8B8E-E99FEE9DB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82AB0-B89A-1F93-757E-1CFA61D1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53718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37DA-760A-88A6-6625-FD03222F6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72D73-9445-22A6-5331-6AC14E27C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98E3E-2D34-7E5D-3AAC-EDCAAF618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0C92-9184-6145-8B82-2DAE843030CB}" type="datetime1">
              <a:rPr lang="en-US" smtClean="0"/>
              <a:t>10/22/24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1C84-A9E3-B229-CB42-071F2616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6B200-B216-8267-9F1D-450628B4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45761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F7D5A-4EFB-DE86-0430-84D79C6A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498FE-93FA-B438-B534-282EC6351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33027-0B5F-0B0C-7001-C3776F368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3DC14-1FAB-5A60-4FC6-7E0FBDADC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502A9-47F4-9E41-8051-D4E3D1156A8E}" type="datetime1">
              <a:rPr lang="en-US" smtClean="0"/>
              <a:t>10/22/24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E7A19-D5EC-C4B1-2A41-C1A2C07B2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BDB9F-FB5E-DDB5-77C7-237F6AE1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8362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4175C-B1BC-9002-6087-A47B0CBCD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DA09F-4BF1-4F15-7451-4E0BB7709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B0A94-295A-B9D5-0715-9DA41BBE0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CDCAA-AF87-37D0-3963-F54091142E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7007D5-6272-1233-251C-C75A40FDBB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6538B0-C8D8-8BF0-17C5-824D30C6A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1FC8E-15FD-5547-AA01-297E0DCB627F}" type="datetime1">
              <a:rPr lang="en-US" smtClean="0"/>
              <a:t>10/22/24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DE11E-8740-9F82-763E-16B1346C5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4643CE-793C-871D-1A16-1F1C571E0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3514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AA233-04D9-3A28-C327-C3DE429D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17855-A01B-357D-78CB-BDBF466A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CAA6-8AE4-8E46-8B7D-A767C954AF9D}" type="datetime1">
              <a:rPr lang="en-US" smtClean="0"/>
              <a:t>10/22/24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EB2F93-C517-3B52-0394-06E770E10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71921-A8BE-5842-0689-B554E7FA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23255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F7677-184C-626A-BB65-68238358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924B-4A91-6E47-B954-C60D6022C680}" type="datetime1">
              <a:rPr lang="en-US" smtClean="0"/>
              <a:t>10/22/24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C7E579-9BBA-30E8-E6E1-AF0336F21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D76B5-CAF7-1695-7115-D652CA43E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4235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29650-CA81-E861-C09F-B56ABB332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77545-8F99-010D-9716-14534798E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D0C2C-E82A-17F6-04AB-46E2F98F8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62AF2-36B8-FFDE-08BE-6A332147D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7C6A5-03E5-9E46-8507-527FDF624BE4}" type="datetime1">
              <a:rPr lang="en-US" smtClean="0"/>
              <a:t>10/22/24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CC9E2-AFD8-7FCF-0940-18359533A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8443D-D966-FCF3-1BF0-DD8DCAE0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6510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0903B-5A1C-220D-BD46-7C6D03C61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A4B804-3272-D41A-CE6D-A7533EC656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B95C1-7B2F-C224-DEE7-A7BA19A10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D82D4-80A8-1A95-4676-EAB26C030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4BA94-0915-B547-9690-3423127FA7A1}" type="datetime1">
              <a:rPr lang="en-US" smtClean="0"/>
              <a:t>10/22/24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3584F-6D07-23B0-8903-D6A02C94C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1D442-45E7-B125-66D4-6DDBBB9D2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0734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33B52-141D-6B1C-E972-AC03B6878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5F04B-99BD-5DB9-97BF-C8E16F4DE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C13B2-3C93-28C0-CF67-ECC119B45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3772D-2526-E840-B37B-54518506AB21}" type="datetime1">
              <a:rPr lang="en-US" smtClean="0"/>
              <a:t>10/22/24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A04B5-CCF9-99DE-3A3E-C372C30B1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F4588-DEED-0DFA-D482-5F13B6F0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52752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1E87D3-C994-647F-F69D-F5ADF778B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583D9-89BA-9D7D-1409-8F34279A8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3ED03-E4B6-5767-808E-02808E7C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2702A-C500-ED4A-A300-1CE8927DA88A}" type="datetime1">
              <a:rPr lang="en-US" smtClean="0"/>
              <a:t>10/22/24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E5D80-9B4D-CE31-BC67-BC1EC39EC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3F0AB-FA9F-89EB-49F9-66218B2E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258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B79B-E04C-C554-5F08-AD7D0CEE1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296F1-15A2-1ECE-8434-8381614F1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D0020-DE73-105D-82B5-B37641FC6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BF90E-C0F7-9E4B-8F12-76293D84C450}" type="datetime1">
              <a:rPr lang="en-US" smtClean="0"/>
              <a:t>10/22/24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9A51A-0F0E-440F-FEF6-9EF5940EBD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1803-FDAE-31AC-655D-DAD413F9A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C7A9D-8D4C-B340-B6E8-30A10B5799E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79613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32CA-D64F-2632-96DB-FD9881F22B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JP" dirty="0"/>
              <a:t>FastQC 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0EF10-F572-0B9A-4EA0-36E39D8066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JP" dirty="0"/>
          </a:p>
          <a:p>
            <a:r>
              <a:rPr lang="en-JP" dirty="0"/>
              <a:t>How  to  understand  and  interpret it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A8DD4-4DC6-4285-3D92-28DA5D052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5119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40FD0-FA60-30E5-9680-A0A19D405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E48B5-D9B1-B4FA-2B38-C0AC5398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Basic statistics</a:t>
            </a:r>
          </a:p>
        </p:txBody>
      </p:sp>
      <p:pic>
        <p:nvPicPr>
          <p:cNvPr id="5" name="Content Placeholder 4" descr="A white sheet with black text&#10;&#10;Description automatically generated">
            <a:extLst>
              <a:ext uri="{FF2B5EF4-FFF2-40B4-BE49-F238E27FC236}">
                <a16:creationId xmlns:a16="http://schemas.microsoft.com/office/drawing/2014/main" id="{7DE4AE95-0E1E-3BEE-F20A-12F057F71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655" t="20471" r="4299"/>
          <a:stretch/>
        </p:blipFill>
        <p:spPr>
          <a:xfrm>
            <a:off x="308758" y="1690688"/>
            <a:ext cx="6887689" cy="359341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F538E3-DD66-33A0-48C9-37E78F26F070}"/>
              </a:ext>
            </a:extLst>
          </p:cNvPr>
          <p:cNvSpPr txBox="1"/>
          <p:nvPr/>
        </p:nvSpPr>
        <p:spPr>
          <a:xfrm>
            <a:off x="7327076" y="2210125"/>
            <a:ext cx="4655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2000" dirty="0"/>
              <a:t>Displays the basic information of the RNA-Seq data set (e.g., encoding, total number of sequences, etc.)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EA1155-610D-8FFF-5A40-FB223467C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11841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809BC-416D-511D-7210-9BD5B031F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9E057-DA8A-A844-AA33-AD2C7D67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Basic statistics</a:t>
            </a:r>
          </a:p>
        </p:txBody>
      </p:sp>
      <p:pic>
        <p:nvPicPr>
          <p:cNvPr id="5" name="Content Placeholder 4" descr="A white sheet with black text&#10;&#10;Description automatically generated">
            <a:extLst>
              <a:ext uri="{FF2B5EF4-FFF2-40B4-BE49-F238E27FC236}">
                <a16:creationId xmlns:a16="http://schemas.microsoft.com/office/drawing/2014/main" id="{77988C96-8D6D-8CA9-7B03-C9CA47080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655" t="20471" r="4299"/>
          <a:stretch/>
        </p:blipFill>
        <p:spPr>
          <a:xfrm>
            <a:off x="308758" y="1690688"/>
            <a:ext cx="6887689" cy="359341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9C9FA3-9879-4A0A-B591-053095AF308E}"/>
              </a:ext>
            </a:extLst>
          </p:cNvPr>
          <p:cNvSpPr txBox="1"/>
          <p:nvPr/>
        </p:nvSpPr>
        <p:spPr>
          <a:xfrm>
            <a:off x="7327076" y="2210125"/>
            <a:ext cx="46551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JP" sz="2000" dirty="0"/>
              <a:t>If all sequences are of the same length, then only one value will be indicated in “Sequence length”</a:t>
            </a:r>
          </a:p>
          <a:p>
            <a:pPr algn="just"/>
            <a:endParaRPr lang="en-JP" sz="2000" dirty="0"/>
          </a:p>
          <a:p>
            <a:pPr algn="just"/>
            <a:r>
              <a:rPr lang="en-JP" sz="2000" dirty="0"/>
              <a:t>Otherwise (i.e., if the sequences have various lengths), the lengths of the shortest and longest sequences will be indicated in “Sequence length”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4C77E8-4A92-96DC-C297-4B32A5CB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3</a:t>
            </a:fld>
            <a:endParaRPr lang="en-JP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7FE43C2-86A8-684E-4CFA-96F81E9E3186}"/>
              </a:ext>
            </a:extLst>
          </p:cNvPr>
          <p:cNvSpPr/>
          <p:nvPr/>
        </p:nvSpPr>
        <p:spPr>
          <a:xfrm>
            <a:off x="391886" y="4180114"/>
            <a:ext cx="4488872" cy="4750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34025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694B5-CDD0-2499-7025-69FAD12F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base sequence quality</a:t>
            </a:r>
          </a:p>
        </p:txBody>
      </p:sp>
      <p:pic>
        <p:nvPicPr>
          <p:cNvPr id="6" name="Content Placeholder 5" descr="A graph with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D576CF78-52EC-9DBF-A60D-8DE5C1F2B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435" y="1800225"/>
            <a:ext cx="5597531" cy="409892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2593C-3156-DD0B-BD5A-422B77221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4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C88BB7-5324-8E8D-8046-8BA4ACD098A0}"/>
              </a:ext>
            </a:extLst>
          </p:cNvPr>
          <p:cNvSpPr txBox="1"/>
          <p:nvPr/>
        </p:nvSpPr>
        <p:spPr>
          <a:xfrm>
            <a:off x="838200" y="6072188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</a:t>
            </a:r>
            <a:r>
              <a:rPr lang="en-JP" dirty="0"/>
              <a:t> Babraham Bioinformatics website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49DA3A-5F7B-B773-E167-A6077587E8ED}"/>
              </a:ext>
            </a:extLst>
          </p:cNvPr>
          <p:cNvSpPr txBox="1"/>
          <p:nvPr/>
        </p:nvSpPr>
        <p:spPr>
          <a:xfrm>
            <a:off x="6643688" y="1983179"/>
            <a:ext cx="48808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2400" dirty="0"/>
              <a:t>Y-axis indicates quality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2400" dirty="0"/>
              <a:t>X-axis indicates the position in the read</a:t>
            </a:r>
            <a:endParaRPr lang="en-JP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025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AF8E5-966D-9A6E-1FAF-DA4ECA5E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C566-7A81-B7AE-CBFE-3D2BB4A7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base sequence quality</a:t>
            </a:r>
          </a:p>
        </p:txBody>
      </p:sp>
      <p:pic>
        <p:nvPicPr>
          <p:cNvPr id="6" name="Content Placeholder 5" descr="A graph with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8B6B0B42-F8FF-5357-CDDE-D692F17E42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435" y="1800225"/>
            <a:ext cx="5597531" cy="409892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930E8-F3CC-E8B1-9A42-6D927E75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5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606AC-A88A-9210-B1BD-1B62E1B65882}"/>
              </a:ext>
            </a:extLst>
          </p:cNvPr>
          <p:cNvSpPr txBox="1"/>
          <p:nvPr/>
        </p:nvSpPr>
        <p:spPr>
          <a:xfrm>
            <a:off x="838200" y="6072188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</a:t>
            </a:r>
            <a:r>
              <a:rPr lang="en-JP" dirty="0"/>
              <a:t> Babraham Bioinformatics website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ACF1E-3125-80EA-406F-852CEF6C854A}"/>
              </a:ext>
            </a:extLst>
          </p:cNvPr>
          <p:cNvSpPr txBox="1"/>
          <p:nvPr/>
        </p:nvSpPr>
        <p:spPr>
          <a:xfrm>
            <a:off x="6643688" y="1983179"/>
            <a:ext cx="48808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/>
              <a:t>Box-and-whisker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/>
              <a:t>The upper part of the yellow box is the 3rd quartile (第３四分位数）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/>
              <a:t>The red line in the middle of the yellow box is the median (中央値)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/>
              <a:t>The bottom part of the yellow box is the 1st quartile (第１四分位数）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altLang="ja-JP" dirty="0"/>
              <a:t>The blue line is the mean (</a:t>
            </a:r>
            <a:r>
              <a:rPr lang="ja-JP" altLang="en-US"/>
              <a:t>平均</a:t>
            </a:r>
            <a:r>
              <a:rPr lang="en-US" altLang="ja-JP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58259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1AEB-CC31-CD30-F0F4-088741AC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77F2-4111-3199-08ED-0BEF1A82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base sequence quality</a:t>
            </a:r>
          </a:p>
        </p:txBody>
      </p:sp>
      <p:pic>
        <p:nvPicPr>
          <p:cNvPr id="6" name="Content Placeholder 5" descr="A graph with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BFAA1AE9-5463-E248-89DE-CBC180598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435" y="1800225"/>
            <a:ext cx="5597531" cy="409892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5F59A-4718-6909-5FCD-83E1FCBD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6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8B014-3EC3-2E17-5279-BA7B0D847733}"/>
              </a:ext>
            </a:extLst>
          </p:cNvPr>
          <p:cNvSpPr txBox="1"/>
          <p:nvPr/>
        </p:nvSpPr>
        <p:spPr>
          <a:xfrm>
            <a:off x="838200" y="6072188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</a:t>
            </a:r>
            <a:r>
              <a:rPr lang="en-JP" dirty="0"/>
              <a:t> Babraham Bioinformatics website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1EA14B-3329-E887-7AA1-3B5E600B9DB1}"/>
              </a:ext>
            </a:extLst>
          </p:cNvPr>
          <p:cNvSpPr txBox="1"/>
          <p:nvPr/>
        </p:nvSpPr>
        <p:spPr>
          <a:xfrm>
            <a:off x="6643688" y="1983179"/>
            <a:ext cx="48808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this example, we can see that the mean quality score tends to be high in the left part of the reads.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However, the mean quality score tends to decrease as we go to the right part of the reads.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77582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36FCA-A648-AA32-FAE9-1CAB45578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DB60-96C4-462F-6550-798F2918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base sequence quality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CA307-B1EB-6677-685A-5ED5CBE1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7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D8D9B5-151D-4DEE-074A-05E3CBAFE266}"/>
              </a:ext>
            </a:extLst>
          </p:cNvPr>
          <p:cNvSpPr txBox="1"/>
          <p:nvPr/>
        </p:nvSpPr>
        <p:spPr>
          <a:xfrm>
            <a:off x="838200" y="6072188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</a:t>
            </a:r>
            <a:r>
              <a:rPr lang="en-JP" dirty="0"/>
              <a:t> PDF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EB4817-1E05-D6A9-3E30-421DF6B5633C}"/>
              </a:ext>
            </a:extLst>
          </p:cNvPr>
          <p:cNvSpPr txBox="1"/>
          <p:nvPr/>
        </p:nvSpPr>
        <p:spPr>
          <a:xfrm>
            <a:off x="6643688" y="1983179"/>
            <a:ext cx="51010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Let’s look at the example in the PDF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We can see that the mean quality score (blue line) is consistently high (within the green area)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Why does this graph NOT have yellow boxes except for the rightmost area? Because the </a:t>
            </a:r>
            <a:r>
              <a:rPr lang="en-US" altLang="ja-JP" u="sng" dirty="0"/>
              <a:t>quality scores are so consistently high that </a:t>
            </a:r>
            <a:r>
              <a:rPr lang="en-US" altLang="ja-JP" u="sng" dirty="0" err="1"/>
              <a:t>FastQC</a:t>
            </a:r>
            <a:r>
              <a:rPr lang="en-US" altLang="ja-JP" u="sng" dirty="0"/>
              <a:t> cannot meaningfully define the 1</a:t>
            </a:r>
            <a:r>
              <a:rPr lang="en-US" altLang="ja-JP" u="sng" baseline="30000" dirty="0"/>
              <a:t>st</a:t>
            </a:r>
            <a:r>
              <a:rPr lang="en-US" altLang="ja-JP" u="sng" dirty="0"/>
              <a:t> and 3</a:t>
            </a:r>
            <a:r>
              <a:rPr lang="en-US" altLang="ja-JP" u="sng" baseline="30000" dirty="0"/>
              <a:t>rd</a:t>
            </a:r>
            <a:r>
              <a:rPr lang="en-US" altLang="ja-JP" u="sng" dirty="0"/>
              <a:t> quartiles</a:t>
            </a:r>
            <a:r>
              <a:rPr lang="en-US" altLang="ja-JP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This is </a:t>
            </a:r>
            <a:r>
              <a:rPr lang="en-US" altLang="ja-JP" u="sng" dirty="0"/>
              <a:t>good news</a:t>
            </a:r>
            <a:r>
              <a:rPr lang="en-US" altLang="ja-JP" dirty="0"/>
              <a:t>!</a:t>
            </a:r>
          </a:p>
        </p:txBody>
      </p:sp>
      <p:pic>
        <p:nvPicPr>
          <p:cNvPr id="10" name="Content Placeholder 9" descr="A graph of a quality score&#10;&#10;Description automatically generated with medium confidence">
            <a:extLst>
              <a:ext uri="{FF2B5EF4-FFF2-40B4-BE49-F238E27FC236}">
                <a16:creationId xmlns:a16="http://schemas.microsoft.com/office/drawing/2014/main" id="{E44AE1C0-ACFF-3D28-772E-97399B431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577" y="1398112"/>
            <a:ext cx="5937345" cy="4503923"/>
          </a:xfrm>
        </p:spPr>
      </p:pic>
    </p:spTree>
    <p:extLst>
      <p:ext uri="{BB962C8B-B14F-4D97-AF65-F5344CB8AC3E}">
        <p14:creationId xmlns:p14="http://schemas.microsoft.com/office/powerpoint/2010/main" val="3232813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9142C-85CF-F8ED-7351-75657752E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tile sequence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EC6CC-6F54-C504-1C6C-28D0EB1A1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934" y="1825625"/>
            <a:ext cx="4584865" cy="4351338"/>
          </a:xfrm>
        </p:spPr>
        <p:txBody>
          <a:bodyPr>
            <a:normAutofit/>
          </a:bodyPr>
          <a:lstStyle/>
          <a:p>
            <a:r>
              <a:rPr lang="en-JP" sz="2400" dirty="0"/>
              <a:t>This graph shows the mean quality score for each flowcell tile</a:t>
            </a:r>
          </a:p>
          <a:p>
            <a:endParaRPr lang="en-JP" sz="2400" dirty="0"/>
          </a:p>
          <a:p>
            <a:r>
              <a:rPr lang="en-JP" sz="2400" dirty="0"/>
              <a:t>T</a:t>
            </a:r>
            <a:r>
              <a:rPr lang="en-US" sz="2400" dirty="0"/>
              <a:t>h</a:t>
            </a:r>
            <a:r>
              <a:rPr lang="en-JP" sz="2400" dirty="0"/>
              <a:t>e Y-axis indicates the flowcell tile</a:t>
            </a:r>
          </a:p>
          <a:p>
            <a:endParaRPr lang="en-JP" sz="2400" dirty="0"/>
          </a:p>
          <a:p>
            <a:r>
              <a:rPr lang="en-JP" sz="2400" dirty="0"/>
              <a:t>The X-axis indicates the position in the read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B1584-7334-659E-0DE6-23266384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8</a:t>
            </a:fld>
            <a:endParaRPr lang="en-JP"/>
          </a:p>
        </p:txBody>
      </p:sp>
      <p:pic>
        <p:nvPicPr>
          <p:cNvPr id="1026" name="Picture 2" descr="Kmer profiles">
            <a:extLst>
              <a:ext uri="{FF2B5EF4-FFF2-40B4-BE49-F238E27FC236}">
                <a16:creationId xmlns:a16="http://schemas.microsoft.com/office/drawing/2014/main" id="{45D84615-9ABA-E3A9-570C-E537CECFA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57325"/>
            <a:ext cx="5657849" cy="424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67E275-5464-9686-28A8-ED1CBAD26A6C}"/>
              </a:ext>
            </a:extLst>
          </p:cNvPr>
          <p:cNvSpPr txBox="1"/>
          <p:nvPr/>
        </p:nvSpPr>
        <p:spPr>
          <a:xfrm>
            <a:off x="838200" y="6072188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</a:t>
            </a:r>
            <a:r>
              <a:rPr lang="en-JP" dirty="0"/>
              <a:t> Babraham Bioinformatics website</a:t>
            </a:r>
          </a:p>
        </p:txBody>
      </p:sp>
    </p:spTree>
    <p:extLst>
      <p:ext uri="{BB962C8B-B14F-4D97-AF65-F5344CB8AC3E}">
        <p14:creationId xmlns:p14="http://schemas.microsoft.com/office/powerpoint/2010/main" val="1267548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9FDDD-0820-C09E-E4D6-79158AA0D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A36EE-D85B-EFAF-C27B-7CCF56CFB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tile sequence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5BB3-B2B4-C99C-9EAC-9E2BA89D7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934" y="1825625"/>
            <a:ext cx="4584865" cy="4351338"/>
          </a:xfrm>
        </p:spPr>
        <p:txBody>
          <a:bodyPr>
            <a:normAutofit/>
          </a:bodyPr>
          <a:lstStyle/>
          <a:p>
            <a:r>
              <a:rPr lang="en-US" sz="2000" dirty="0"/>
              <a:t>The color indicates the mean quality score. 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Red</a:t>
            </a:r>
            <a:r>
              <a:rPr lang="en-US" sz="2000" dirty="0"/>
              <a:t> means low quality score, and </a:t>
            </a:r>
            <a:r>
              <a:rPr lang="en-US" sz="2000" dirty="0">
                <a:solidFill>
                  <a:srgbClr val="0070C0"/>
                </a:solidFill>
              </a:rPr>
              <a:t>blue</a:t>
            </a:r>
            <a:r>
              <a:rPr lang="en-US" sz="2000" dirty="0"/>
              <a:t> mean high quality score.</a:t>
            </a:r>
          </a:p>
          <a:p>
            <a:endParaRPr lang="en-US" sz="2000" dirty="0"/>
          </a:p>
          <a:p>
            <a:r>
              <a:rPr lang="en-US" sz="2000" dirty="0"/>
              <a:t>In this example, we can see that the reads in </a:t>
            </a:r>
            <a:r>
              <a:rPr lang="en-US" sz="2000" dirty="0" err="1"/>
              <a:t>flowcell</a:t>
            </a:r>
            <a:r>
              <a:rPr lang="en-US" sz="2000" dirty="0"/>
              <a:t> tiles 78 ~ 80 tend to have low quality (many red areas)</a:t>
            </a:r>
            <a:endParaRPr lang="en-JP" sz="2000" dirty="0"/>
          </a:p>
          <a:p>
            <a:endParaRPr lang="en-JP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5DDF8-927C-7075-CD60-B0690CCE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9</a:t>
            </a:fld>
            <a:endParaRPr lang="en-JP"/>
          </a:p>
        </p:txBody>
      </p:sp>
      <p:pic>
        <p:nvPicPr>
          <p:cNvPr id="1026" name="Picture 2" descr="Kmer profiles">
            <a:extLst>
              <a:ext uri="{FF2B5EF4-FFF2-40B4-BE49-F238E27FC236}">
                <a16:creationId xmlns:a16="http://schemas.microsoft.com/office/drawing/2014/main" id="{4C9D4538-6EF3-A066-CBCF-058366419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57325"/>
            <a:ext cx="5657849" cy="424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C80D1A-0D93-DE98-629A-5BF18BC7DB1C}"/>
              </a:ext>
            </a:extLst>
          </p:cNvPr>
          <p:cNvSpPr txBox="1"/>
          <p:nvPr/>
        </p:nvSpPr>
        <p:spPr>
          <a:xfrm>
            <a:off x="838200" y="6072188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</a:t>
            </a:r>
            <a:r>
              <a:rPr lang="en-JP" dirty="0"/>
              <a:t> Babraham Bioinformatics website</a:t>
            </a:r>
          </a:p>
        </p:txBody>
      </p:sp>
    </p:spTree>
    <p:extLst>
      <p:ext uri="{BB962C8B-B14F-4D97-AF65-F5344CB8AC3E}">
        <p14:creationId xmlns:p14="http://schemas.microsoft.com/office/powerpoint/2010/main" val="4073127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37D93-70E0-2F0E-512E-B7FE7240D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B471-5907-650D-C5BF-79005178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tile sequence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D6A2C-CAE3-3DEE-0B9C-D612C06ED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934" y="1825625"/>
            <a:ext cx="4584865" cy="4351338"/>
          </a:xfrm>
        </p:spPr>
        <p:txBody>
          <a:bodyPr>
            <a:normAutofit/>
          </a:bodyPr>
          <a:lstStyle/>
          <a:p>
            <a:r>
              <a:rPr lang="en-US" sz="2000" dirty="0"/>
              <a:t>Let’s look at the per tile sequence quality graph in the PDF file</a:t>
            </a:r>
          </a:p>
          <a:p>
            <a:endParaRPr lang="en-US" sz="2000" dirty="0"/>
          </a:p>
          <a:p>
            <a:r>
              <a:rPr lang="en-US" sz="2000" dirty="0"/>
              <a:t>In this graph, everything is blue</a:t>
            </a:r>
          </a:p>
          <a:p>
            <a:endParaRPr lang="en-US" sz="2000" dirty="0"/>
          </a:p>
          <a:p>
            <a:r>
              <a:rPr lang="en-US" sz="2000" dirty="0"/>
              <a:t>This is </a:t>
            </a:r>
            <a:r>
              <a:rPr lang="en-US" sz="2000" u="sng" dirty="0"/>
              <a:t>good news</a:t>
            </a:r>
            <a:r>
              <a:rPr lang="en-US" sz="2000" dirty="0"/>
              <a:t>, because blue indicates high quality.</a:t>
            </a:r>
            <a:endParaRPr lang="en-JP" sz="2000" dirty="0"/>
          </a:p>
          <a:p>
            <a:endParaRPr lang="en-JP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20FC9-2595-4EEA-B820-72B4BB0B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10</a:t>
            </a:fld>
            <a:endParaRPr lang="en-JP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226D9-F7E2-04F9-2751-1DD9D1F9C879}"/>
              </a:ext>
            </a:extLst>
          </p:cNvPr>
          <p:cNvSpPr txBox="1"/>
          <p:nvPr/>
        </p:nvSpPr>
        <p:spPr>
          <a:xfrm>
            <a:off x="838200" y="6072188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</a:t>
            </a:r>
            <a:r>
              <a:rPr lang="en-JP" dirty="0"/>
              <a:t> PDF file</a:t>
            </a:r>
          </a:p>
        </p:txBody>
      </p:sp>
      <p:pic>
        <p:nvPicPr>
          <p:cNvPr id="7" name="Picture 6" descr="A blue rectangle with numbers and lines&#10;&#10;Description automatically generated">
            <a:extLst>
              <a:ext uri="{FF2B5EF4-FFF2-40B4-BE49-F238E27FC236}">
                <a16:creationId xmlns:a16="http://schemas.microsoft.com/office/drawing/2014/main" id="{92AEFBD6-ABD2-8CBD-93E1-6CCDE6572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55" y="1419416"/>
            <a:ext cx="5996907" cy="465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956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D859D-CB6B-8B97-825D-5659F4F76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sequence quality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DE467-E430-9E22-6F68-170FB731E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3688" y="1825625"/>
            <a:ext cx="4710112" cy="4351338"/>
          </a:xfrm>
        </p:spPr>
        <p:txBody>
          <a:bodyPr>
            <a:normAutofit/>
          </a:bodyPr>
          <a:lstStyle/>
          <a:p>
            <a:r>
              <a:rPr lang="en-JP" sz="2000" dirty="0"/>
              <a:t>The X-axis indicates average quality scores</a:t>
            </a:r>
          </a:p>
          <a:p>
            <a:endParaRPr lang="en-JP" sz="2000" dirty="0">
              <a:solidFill>
                <a:srgbClr val="00B0F0"/>
              </a:solidFill>
            </a:endParaRPr>
          </a:p>
          <a:p>
            <a:r>
              <a:rPr lang="en-JP" sz="2000" dirty="0"/>
              <a:t>The Y-axis indicates the number of sequences</a:t>
            </a:r>
          </a:p>
          <a:p>
            <a:endParaRPr lang="en-JP" sz="2000" dirty="0">
              <a:solidFill>
                <a:srgbClr val="FF0000"/>
              </a:solidFill>
            </a:endParaRPr>
          </a:p>
          <a:p>
            <a:r>
              <a:rPr lang="en-JP" sz="2000" dirty="0"/>
              <a:t>The red line indicates how many sequences (Y-axis) have a certain average quality score (X-axis)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44AD1-7074-6C49-B3EA-2F2EBC491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11</a:t>
            </a:fld>
            <a:endParaRPr lang="en-JP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BE1E6C-A4FC-D760-CC57-1C0221C6F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13" y="1452805"/>
            <a:ext cx="6072400" cy="455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D83869-3E27-4947-C686-DFCF03F719D9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</a:t>
            </a:r>
            <a:r>
              <a:rPr lang="en-JP" dirty="0"/>
              <a:t> Babraham Bioinformatics website</a:t>
            </a:r>
          </a:p>
        </p:txBody>
      </p:sp>
    </p:spTree>
    <p:extLst>
      <p:ext uri="{BB962C8B-B14F-4D97-AF65-F5344CB8AC3E}">
        <p14:creationId xmlns:p14="http://schemas.microsoft.com/office/powerpoint/2010/main" val="528759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02C9-C5F9-8BBD-3FE5-247BE02F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96A39-677E-CD1D-B88C-258DDDB9F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sequence quality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1CED5-A86E-60EB-8305-C928C7141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3688" y="1825625"/>
            <a:ext cx="4710112" cy="4351338"/>
          </a:xfrm>
        </p:spPr>
        <p:txBody>
          <a:bodyPr>
            <a:normAutofit fontScale="92500" lnSpcReduction="10000"/>
          </a:bodyPr>
          <a:lstStyle/>
          <a:p>
            <a:r>
              <a:rPr lang="en-JP" sz="2000" dirty="0"/>
              <a:t>In this example, we can see that many sequences have an average score of 30~32 </a:t>
            </a:r>
            <a:r>
              <a:rPr lang="en-JP" sz="2000" dirty="0">
                <a:solidFill>
                  <a:srgbClr val="00B0F0"/>
                </a:solidFill>
              </a:rPr>
              <a:t>(blue circle)</a:t>
            </a:r>
          </a:p>
          <a:p>
            <a:endParaRPr lang="en-JP" sz="2000" dirty="0">
              <a:solidFill>
                <a:srgbClr val="00B0F0"/>
              </a:solidFill>
            </a:endParaRPr>
          </a:p>
          <a:p>
            <a:r>
              <a:rPr lang="en-JP" sz="2000" dirty="0"/>
              <a:t>We can also see that there are a small number of reads with very low average quality score </a:t>
            </a:r>
            <a:r>
              <a:rPr lang="en-JP" sz="2000" dirty="0">
                <a:solidFill>
                  <a:srgbClr val="00B050"/>
                </a:solidFill>
              </a:rPr>
              <a:t>(green circle)</a:t>
            </a:r>
          </a:p>
          <a:p>
            <a:pPr marL="0" indent="0">
              <a:buNone/>
            </a:pPr>
            <a:endParaRPr lang="en-JP" sz="2000" dirty="0"/>
          </a:p>
          <a:p>
            <a:r>
              <a:rPr lang="en-JP" sz="2000" dirty="0"/>
              <a:t>Having a small number of such low-quality sequences is OK. </a:t>
            </a:r>
          </a:p>
          <a:p>
            <a:endParaRPr lang="en-JP" sz="2000" dirty="0"/>
          </a:p>
          <a:p>
            <a:r>
              <a:rPr lang="en-JP" sz="2000" dirty="0"/>
              <a:t>However, if the number of such sequences is large, then there is probably a problem with the experiment.</a:t>
            </a:r>
          </a:p>
          <a:p>
            <a:endParaRPr lang="en-JP" sz="2000" dirty="0"/>
          </a:p>
          <a:p>
            <a:endParaRPr lang="en-JP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101FB-5133-557E-B797-506ADF41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12</a:t>
            </a:fld>
            <a:endParaRPr lang="en-JP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89B436-6658-8B81-8042-3CBBCC910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13" y="1452805"/>
            <a:ext cx="6072400" cy="455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256B8A-D670-2607-383F-F60A2A0C5028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</a:t>
            </a:r>
            <a:r>
              <a:rPr lang="en-JP" dirty="0"/>
              <a:t> Babraham Bioinformatics website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2C642C-BBA0-D9DD-296F-A630234EC9B8}"/>
              </a:ext>
            </a:extLst>
          </p:cNvPr>
          <p:cNvSpPr/>
          <p:nvPr/>
        </p:nvSpPr>
        <p:spPr>
          <a:xfrm rot="5400000">
            <a:off x="5295964" y="1702532"/>
            <a:ext cx="858124" cy="741947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8B780B-31AE-7921-7F4A-FEDCB2BF7C3B}"/>
              </a:ext>
            </a:extLst>
          </p:cNvPr>
          <p:cNvSpPr/>
          <p:nvPr/>
        </p:nvSpPr>
        <p:spPr>
          <a:xfrm rot="5400000">
            <a:off x="613751" y="5405053"/>
            <a:ext cx="595279" cy="59556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60405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E9795-3BB3-AA6E-0327-4FC5717F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726B8-B27F-E4DE-15D1-D93455725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sequence quality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CF408-1859-B3C9-2EAA-F85679904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3688" y="1825625"/>
            <a:ext cx="4710112" cy="4351338"/>
          </a:xfrm>
        </p:spPr>
        <p:txBody>
          <a:bodyPr>
            <a:normAutofit/>
          </a:bodyPr>
          <a:lstStyle/>
          <a:p>
            <a:r>
              <a:rPr lang="en-JP" sz="2000" dirty="0"/>
              <a:t>Let’s look at the per sequence quality scores graph of the PDF file</a:t>
            </a:r>
          </a:p>
          <a:p>
            <a:endParaRPr lang="en-JP" sz="2000" dirty="0"/>
          </a:p>
          <a:p>
            <a:r>
              <a:rPr lang="en-JP" sz="2000" dirty="0"/>
              <a:t>We can see that there are practically no sequences with low average quality.</a:t>
            </a:r>
          </a:p>
          <a:p>
            <a:endParaRPr lang="en-JP" sz="2000" dirty="0"/>
          </a:p>
          <a:p>
            <a:r>
              <a:rPr lang="en-JP" sz="2000" dirty="0"/>
              <a:t>Almost all sequences have high quality.</a:t>
            </a:r>
          </a:p>
          <a:p>
            <a:endParaRPr lang="en-JP" sz="2000" dirty="0"/>
          </a:p>
          <a:p>
            <a:r>
              <a:rPr lang="en-JP" sz="2000" dirty="0"/>
              <a:t>This is </a:t>
            </a:r>
            <a:r>
              <a:rPr lang="en-JP" sz="2000" u="sng" dirty="0"/>
              <a:t>good news</a:t>
            </a:r>
            <a:r>
              <a:rPr lang="en-JP" sz="2000" dirty="0"/>
              <a:t>!</a:t>
            </a:r>
          </a:p>
          <a:p>
            <a:endParaRPr lang="en-JP" sz="2000" dirty="0"/>
          </a:p>
          <a:p>
            <a:endParaRPr lang="en-JP" sz="2000" dirty="0"/>
          </a:p>
          <a:p>
            <a:endParaRPr lang="en-JP" sz="2000" dirty="0"/>
          </a:p>
          <a:p>
            <a:endParaRPr lang="en-JP" sz="2000" dirty="0"/>
          </a:p>
          <a:p>
            <a:endParaRPr lang="en-JP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CA8A8-BE9F-E959-298A-01B13C89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13</a:t>
            </a:fld>
            <a:endParaRPr lang="en-JP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9F2AD-D940-88C2-90F7-4CC7ACD5C5B9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</a:t>
            </a:r>
            <a:r>
              <a:rPr lang="en-JP" dirty="0"/>
              <a:t> PDF file</a:t>
            </a:r>
          </a:p>
        </p:txBody>
      </p:sp>
      <p:pic>
        <p:nvPicPr>
          <p:cNvPr id="7" name="Picture 6" descr="A graph with a line going up&#10;&#10;Description automatically generated">
            <a:extLst>
              <a:ext uri="{FF2B5EF4-FFF2-40B4-BE49-F238E27FC236}">
                <a16:creationId xmlns:a16="http://schemas.microsoft.com/office/drawing/2014/main" id="{7230BB27-2199-81ED-36B5-6A4163CF2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01" y="1540042"/>
            <a:ext cx="5704499" cy="42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36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51F8-5484-E1A1-EB86-23240ECC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base sequence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3A610-35A3-4715-F4E0-D8E3692A6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0" y="1825625"/>
            <a:ext cx="4610100" cy="4351338"/>
          </a:xfrm>
        </p:spPr>
        <p:txBody>
          <a:bodyPr>
            <a:normAutofit/>
          </a:bodyPr>
          <a:lstStyle/>
          <a:p>
            <a:r>
              <a:rPr lang="en-JP" sz="2000" dirty="0"/>
              <a:t>The X-axis represents the position in the read </a:t>
            </a:r>
          </a:p>
          <a:p>
            <a:endParaRPr lang="en-JP" sz="2000" dirty="0">
              <a:solidFill>
                <a:srgbClr val="00B0F0"/>
              </a:solidFill>
            </a:endParaRPr>
          </a:p>
          <a:p>
            <a:r>
              <a:rPr lang="en-JP" sz="2000" dirty="0"/>
              <a:t>The Y-axis represents the percent in that position </a:t>
            </a:r>
            <a:endParaRPr lang="en-JP" sz="2000" dirty="0">
              <a:solidFill>
                <a:srgbClr val="FF0000"/>
              </a:solidFill>
            </a:endParaRPr>
          </a:p>
          <a:p>
            <a:endParaRPr lang="en-JP" sz="2000" dirty="0">
              <a:solidFill>
                <a:srgbClr val="FF0000"/>
              </a:solidFill>
            </a:endParaRPr>
          </a:p>
          <a:p>
            <a:r>
              <a:rPr lang="en-JP" sz="2000" dirty="0"/>
              <a:t>The colored lines indicate the percent of each base in that 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3649-3A52-6EF6-B365-8B5191CD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14</a:t>
            </a:fld>
            <a:endParaRPr lang="en-JP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1898EA2-4E68-628B-C060-A0D4BAEE1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567114"/>
            <a:ext cx="5987716" cy="449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8D36E8-9F2C-26F6-844A-FF3241F99EFC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</a:t>
            </a:r>
            <a:r>
              <a:rPr lang="en-JP" dirty="0"/>
              <a:t> Babraham Bioinformatics website</a:t>
            </a:r>
          </a:p>
        </p:txBody>
      </p:sp>
    </p:spTree>
    <p:extLst>
      <p:ext uri="{BB962C8B-B14F-4D97-AF65-F5344CB8AC3E}">
        <p14:creationId xmlns:p14="http://schemas.microsoft.com/office/powerpoint/2010/main" val="210279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3E8AF-4A2C-BE8A-F66A-FB23CD301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30FC0-5C55-8A75-EC88-311F81711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base sequence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767BF-D0E1-8CA1-004E-49C1497B6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0" y="1825625"/>
            <a:ext cx="4610100" cy="4351338"/>
          </a:xfrm>
        </p:spPr>
        <p:txBody>
          <a:bodyPr>
            <a:normAutofit/>
          </a:bodyPr>
          <a:lstStyle/>
          <a:p>
            <a:endParaRPr lang="en-JP" sz="2000" dirty="0"/>
          </a:p>
          <a:p>
            <a:endParaRPr lang="en-JP" sz="2000" dirty="0"/>
          </a:p>
          <a:p>
            <a:r>
              <a:rPr lang="en-JP" sz="2000" dirty="0"/>
              <a:t>It is normal to have sudden, sharp changes at the left part of the read </a:t>
            </a:r>
            <a:r>
              <a:rPr lang="en-JP" sz="2000" dirty="0">
                <a:solidFill>
                  <a:srgbClr val="FF0000"/>
                </a:solidFill>
              </a:rPr>
              <a:t>(red circle)</a:t>
            </a:r>
          </a:p>
          <a:p>
            <a:endParaRPr lang="en-JP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A6DD7-1795-72FE-66D8-4DF1DCE0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15</a:t>
            </a:fld>
            <a:endParaRPr lang="en-JP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CBB8AC5-F6E7-61A5-71E9-4AF0339D5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567114"/>
            <a:ext cx="5987716" cy="449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98AAAA-4076-138A-6D5A-A9722B2C1293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</a:t>
            </a:r>
            <a:r>
              <a:rPr lang="en-JP" dirty="0"/>
              <a:t> Babraham Bioinformatics website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D6540A-C3F9-53CD-D35E-14366D3C0D53}"/>
              </a:ext>
            </a:extLst>
          </p:cNvPr>
          <p:cNvSpPr/>
          <p:nvPr/>
        </p:nvSpPr>
        <p:spPr>
          <a:xfrm rot="5400000">
            <a:off x="512146" y="4299084"/>
            <a:ext cx="803506" cy="11800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6046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C9774-20E2-7CA3-E1E5-A63355964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9A14B-D20D-AF39-0DA5-14303D244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base sequence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0ADC5-6151-7D2C-1E71-E945EEF23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0" y="1825625"/>
            <a:ext cx="4610100" cy="4351338"/>
          </a:xfrm>
        </p:spPr>
        <p:txBody>
          <a:bodyPr>
            <a:normAutofit/>
          </a:bodyPr>
          <a:lstStyle/>
          <a:p>
            <a:endParaRPr lang="en-JP" sz="2000" dirty="0"/>
          </a:p>
          <a:p>
            <a:endParaRPr lang="en-JP" sz="2000" dirty="0"/>
          </a:p>
          <a:p>
            <a:r>
              <a:rPr lang="en-JP" sz="2000" dirty="0"/>
              <a:t>In the middle and right part of the read, there are usually no sharp, sudden changes. Hence, the lines appear approximately parallel </a:t>
            </a:r>
            <a:r>
              <a:rPr lang="en-JP" sz="2000" dirty="0">
                <a:solidFill>
                  <a:srgbClr val="FF0000"/>
                </a:solidFill>
              </a:rPr>
              <a:t>(red circle)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CA717-8F53-3838-516C-79650C2A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16</a:t>
            </a:fld>
            <a:endParaRPr lang="en-JP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8CDE17F-E3C1-0243-0DBF-E847BFE96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567114"/>
            <a:ext cx="5987716" cy="449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0F2C79-4207-1500-5290-022260057624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</a:t>
            </a:r>
            <a:r>
              <a:rPr lang="en-JP" dirty="0"/>
              <a:t> Babraham Bioinformatics website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7134C8-E4C3-0384-0BF9-FCA504BB6A83}"/>
              </a:ext>
            </a:extLst>
          </p:cNvPr>
          <p:cNvSpPr/>
          <p:nvPr/>
        </p:nvSpPr>
        <p:spPr>
          <a:xfrm rot="5400000">
            <a:off x="3844894" y="2939516"/>
            <a:ext cx="803506" cy="3899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545711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4E5AF-9573-E816-E6C6-C9299B735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3DACD-4DC5-18AA-4949-AB40C00D6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base sequence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50BE-9DCF-71DD-C907-A8D327010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0" y="1825625"/>
            <a:ext cx="4610100" cy="4351338"/>
          </a:xfrm>
        </p:spPr>
        <p:txBody>
          <a:bodyPr>
            <a:normAutofit/>
          </a:bodyPr>
          <a:lstStyle/>
          <a:p>
            <a:endParaRPr lang="en-JP" sz="2000" dirty="0"/>
          </a:p>
          <a:p>
            <a:endParaRPr lang="en-JP" sz="2000" dirty="0"/>
          </a:p>
          <a:p>
            <a:endParaRPr lang="en-JP" sz="2000" dirty="0"/>
          </a:p>
          <a:p>
            <a:endParaRPr lang="en-JP" sz="2000" dirty="0"/>
          </a:p>
          <a:p>
            <a:r>
              <a:rPr lang="en-JP" sz="2000" dirty="0"/>
              <a:t>Let’s look at the per base sequence content graph from the PDF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0404E-455B-B3AE-4EAB-D91E2815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17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6DC8C-9EDE-B56A-3D7E-F55EA2574528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PDF file</a:t>
            </a:r>
            <a:endParaRPr lang="en-JP" dirty="0"/>
          </a:p>
        </p:txBody>
      </p:sp>
      <p:pic>
        <p:nvPicPr>
          <p:cNvPr id="6" name="Picture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CDD1CD07-8D44-5667-149D-7793107EC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18" y="1395662"/>
            <a:ext cx="6266874" cy="455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50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2DD7-A7A7-B5B5-1D5C-47A20CD2E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38D6D-6958-E837-370C-58607AD45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base sequence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27575-06E4-8C57-F165-9E4970F8D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0" y="1825625"/>
            <a:ext cx="4610100" cy="4351338"/>
          </a:xfrm>
        </p:spPr>
        <p:txBody>
          <a:bodyPr>
            <a:normAutofit/>
          </a:bodyPr>
          <a:lstStyle/>
          <a:p>
            <a:endParaRPr lang="en-JP" sz="2000" dirty="0"/>
          </a:p>
          <a:p>
            <a:endParaRPr lang="en-JP" sz="2000" dirty="0"/>
          </a:p>
          <a:p>
            <a:endParaRPr lang="en-JP" sz="2000" dirty="0"/>
          </a:p>
          <a:p>
            <a:endParaRPr lang="en-JP" sz="2000" dirty="0"/>
          </a:p>
          <a:p>
            <a:r>
              <a:rPr lang="en-JP" sz="2000" dirty="0"/>
              <a:t>The left part of the reads have sudden, sharp changes in the percentage of the four bases.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48190-F3BF-322F-4FBC-7BC62007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18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E3D2E-2F79-476A-0896-252B3D0735CF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PDF file</a:t>
            </a:r>
            <a:endParaRPr lang="en-JP" dirty="0"/>
          </a:p>
        </p:txBody>
      </p:sp>
      <p:pic>
        <p:nvPicPr>
          <p:cNvPr id="6" name="Picture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94619D4-1D4C-1D6F-C420-26941BF83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18" y="1395662"/>
            <a:ext cx="6266874" cy="455172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E696FCF-C2F2-30D4-5A48-F010B6E47788}"/>
              </a:ext>
            </a:extLst>
          </p:cNvPr>
          <p:cNvSpPr/>
          <p:nvPr/>
        </p:nvSpPr>
        <p:spPr>
          <a:xfrm rot="5400000">
            <a:off x="280484" y="3661361"/>
            <a:ext cx="1768644" cy="18333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58861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FEB30-AEAC-DADD-30BD-6EF3C6B27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F1F4F-0E81-8479-9934-AA1D254B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base sequence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3310C-6F22-1681-E237-D276AF1C8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0" y="1825625"/>
            <a:ext cx="4610100" cy="4351338"/>
          </a:xfrm>
        </p:spPr>
        <p:txBody>
          <a:bodyPr>
            <a:normAutofit/>
          </a:bodyPr>
          <a:lstStyle/>
          <a:p>
            <a:endParaRPr lang="en-JP" sz="2000" dirty="0"/>
          </a:p>
          <a:p>
            <a:endParaRPr lang="en-JP" sz="2000" dirty="0"/>
          </a:p>
          <a:p>
            <a:endParaRPr lang="en-JP" sz="2000" dirty="0"/>
          </a:p>
          <a:p>
            <a:endParaRPr lang="en-JP" sz="2000" dirty="0"/>
          </a:p>
          <a:p>
            <a:r>
              <a:rPr lang="en-JP" sz="2000" dirty="0"/>
              <a:t>In the middle and right part of the reads, the lines are approximately parallel (no sudden, sharp changes)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509E7-D4A8-E141-E684-294651B4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19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024121-B603-3390-350D-CE1CB61F0F32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PDF file</a:t>
            </a:r>
            <a:endParaRPr lang="en-JP" dirty="0"/>
          </a:p>
        </p:txBody>
      </p:sp>
      <p:pic>
        <p:nvPicPr>
          <p:cNvPr id="6" name="Picture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7C6A9944-EFF6-7201-B7B7-B260B225E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18" y="1395662"/>
            <a:ext cx="6266874" cy="455172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52C23D1-ED52-FB93-C7DC-17AE56D6F6AB}"/>
              </a:ext>
            </a:extLst>
          </p:cNvPr>
          <p:cNvSpPr/>
          <p:nvPr/>
        </p:nvSpPr>
        <p:spPr>
          <a:xfrm rot="5400000">
            <a:off x="3782444" y="2433178"/>
            <a:ext cx="998816" cy="43616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84276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14CB9-D08C-5B0F-4ABD-5800FDF8E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63269-6552-4E03-6BF2-C320DDDD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sequence GC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A71DE-CC16-C524-62A2-2C91AF57A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3688" y="1690688"/>
            <a:ext cx="4854742" cy="4470023"/>
          </a:xfrm>
        </p:spPr>
        <p:txBody>
          <a:bodyPr>
            <a:noAutofit/>
          </a:bodyPr>
          <a:lstStyle/>
          <a:p>
            <a:r>
              <a:rPr lang="en-JP" sz="2000" dirty="0"/>
              <a:t>T</a:t>
            </a:r>
            <a:r>
              <a:rPr lang="en-US" sz="2000" dirty="0"/>
              <a:t>h</a:t>
            </a:r>
            <a:r>
              <a:rPr lang="en-JP" sz="2000" dirty="0"/>
              <a:t>e X-axis indicates the mean GC (Guanine-Cytosine) content</a:t>
            </a:r>
          </a:p>
          <a:p>
            <a:endParaRPr lang="en-JP" sz="2000" dirty="0"/>
          </a:p>
          <a:p>
            <a:r>
              <a:rPr lang="en-JP" sz="2000" dirty="0"/>
              <a:t>The Y-axis indicates the number of sequences having a particular mean GC content</a:t>
            </a:r>
          </a:p>
          <a:p>
            <a:endParaRPr lang="en-JP" sz="2000" dirty="0"/>
          </a:p>
          <a:p>
            <a:r>
              <a:rPr lang="en-JP" sz="2000" dirty="0"/>
              <a:t>The </a:t>
            </a:r>
            <a:r>
              <a:rPr lang="en-JP" sz="2000" dirty="0">
                <a:solidFill>
                  <a:srgbClr val="FF0000"/>
                </a:solidFill>
              </a:rPr>
              <a:t>red line</a:t>
            </a:r>
            <a:r>
              <a:rPr lang="en-JP" sz="2000" dirty="0"/>
              <a:t> represents the mean GC content of the data set that we analyzed.</a:t>
            </a:r>
          </a:p>
          <a:p>
            <a:endParaRPr lang="en-JP" sz="2000" dirty="0"/>
          </a:p>
          <a:p>
            <a:r>
              <a:rPr lang="en-JP" sz="2000" dirty="0"/>
              <a:t>The </a:t>
            </a:r>
            <a:r>
              <a:rPr lang="en-JP" sz="2000" dirty="0">
                <a:solidFill>
                  <a:srgbClr val="0432FF"/>
                </a:solidFill>
              </a:rPr>
              <a:t>blue line</a:t>
            </a:r>
            <a:r>
              <a:rPr lang="en-JP" sz="2000" dirty="0"/>
              <a:t> represents the theoretical (ideal) distribution of mean GC reads </a:t>
            </a:r>
          </a:p>
          <a:p>
            <a:endParaRPr lang="en-JP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518A9-B8A0-AD77-837D-39AD49B8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20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B77C2C-1216-3F63-5997-3375A71AA79E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</a:t>
            </a:r>
            <a:r>
              <a:rPr lang="en-JP" dirty="0"/>
              <a:t>Babraham Bioinformatics website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B1BE933A-CA21-63F8-8FC0-DE351A8EB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52" y="1409011"/>
            <a:ext cx="5805488" cy="4354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5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1D5B9-32A0-6FB0-FFD3-3D239E199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8AEA5-A826-951E-CB2E-014339B6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sequence GC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6DC67-9A1A-47E0-D1C0-BABC7896B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0" y="1825625"/>
            <a:ext cx="4610100" cy="4351338"/>
          </a:xfrm>
        </p:spPr>
        <p:txBody>
          <a:bodyPr>
            <a:normAutofit/>
          </a:bodyPr>
          <a:lstStyle/>
          <a:p>
            <a:r>
              <a:rPr lang="en-JP" sz="2000" dirty="0"/>
              <a:t>Theoretically, the mean GC content should follow a normal distribution</a:t>
            </a:r>
          </a:p>
          <a:p>
            <a:pPr marL="0" indent="0">
              <a:buNone/>
            </a:pPr>
            <a:endParaRPr lang="en-JP" sz="2000" dirty="0"/>
          </a:p>
          <a:p>
            <a:r>
              <a:rPr lang="en-JP" sz="2000" dirty="0"/>
              <a:t>As we can see, the actual GC cotent distrubtion </a:t>
            </a:r>
            <a:r>
              <a:rPr lang="en-JP" sz="2000" dirty="0">
                <a:solidFill>
                  <a:srgbClr val="FF0000"/>
                </a:solidFill>
              </a:rPr>
              <a:t>(red line)</a:t>
            </a:r>
            <a:r>
              <a:rPr lang="en-JP" sz="2000" dirty="0"/>
              <a:t> is similar to the theoretical distribution </a:t>
            </a:r>
            <a:r>
              <a:rPr lang="en-JP" sz="2000" dirty="0">
                <a:solidFill>
                  <a:srgbClr val="0432FF"/>
                </a:solidFill>
              </a:rPr>
              <a:t>(blue line)</a:t>
            </a:r>
            <a:r>
              <a:rPr lang="en-JP" sz="2000" dirty="0"/>
              <a:t>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55B78-C508-5786-5546-C5468D3B2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21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D8335-E19C-320C-7D0B-A4CB96E6FE0A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</a:t>
            </a:r>
            <a:r>
              <a:rPr lang="en-JP" dirty="0"/>
              <a:t>Babraham Bioinformatics website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FEA7A14E-AF32-3211-9877-4BD451396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52" y="1409011"/>
            <a:ext cx="5805488" cy="4354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702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FACF7-93BD-CC58-1931-89A16249A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61B9-7C7E-5E93-A81B-16C0C8B5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sequence GC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56962-945B-2426-BC67-F72851CFB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0" y="1825625"/>
            <a:ext cx="4610100" cy="4351338"/>
          </a:xfrm>
        </p:spPr>
        <p:txBody>
          <a:bodyPr>
            <a:normAutofit/>
          </a:bodyPr>
          <a:lstStyle/>
          <a:p>
            <a:r>
              <a:rPr lang="en-JP" sz="2000" dirty="0"/>
              <a:t>Let’s look at the per sequence GC content in the PDF file</a:t>
            </a:r>
          </a:p>
          <a:p>
            <a:endParaRPr lang="en-JP" sz="2000" dirty="0"/>
          </a:p>
          <a:p>
            <a:r>
              <a:rPr lang="en-JP" sz="2000" dirty="0"/>
              <a:t>As we can see, the GC content distribution of the actual data is similar to the theoretical distribution (except for the middle part)</a:t>
            </a:r>
          </a:p>
          <a:p>
            <a:endParaRPr lang="en-JP" sz="2000" dirty="0"/>
          </a:p>
          <a:p>
            <a:r>
              <a:rPr lang="en-JP" sz="2000" dirty="0"/>
              <a:t>This GC content distribution is OK</a:t>
            </a:r>
          </a:p>
          <a:p>
            <a:endParaRPr lang="en-JP" sz="2000" dirty="0"/>
          </a:p>
          <a:p>
            <a:endParaRPr lang="en-JP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592A1-A765-CC12-852F-6FF72643D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22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7FC1FB-D7E8-BB8E-A5AF-8C970E37BA60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</a:t>
            </a:r>
            <a:r>
              <a:rPr lang="en-JP" dirty="0"/>
              <a:t>PDF file</a:t>
            </a:r>
          </a:p>
        </p:txBody>
      </p:sp>
      <p:pic>
        <p:nvPicPr>
          <p:cNvPr id="6" name="Picture 5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B81E9DDF-4F56-7160-92C5-712886DFB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88" y="1543082"/>
            <a:ext cx="6121300" cy="463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37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28327-4A09-4DE2-9809-F5761FD2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CAE1-C01B-5885-4304-D217127A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base 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22182-1E4E-265D-33D9-8D258C463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0" y="1825625"/>
            <a:ext cx="4610100" cy="4351338"/>
          </a:xfrm>
        </p:spPr>
        <p:txBody>
          <a:bodyPr>
            <a:normAutofit/>
          </a:bodyPr>
          <a:lstStyle/>
          <a:p>
            <a:r>
              <a:rPr lang="en-JP" sz="2000" dirty="0"/>
              <a:t>If a sequencing machine is unable to confidently identify a particular base, it is indicated as “N” (instead of “A”, “T”, “C”, or “G”). </a:t>
            </a:r>
          </a:p>
          <a:p>
            <a:endParaRPr lang="en-JP" sz="2000" dirty="0"/>
          </a:p>
          <a:p>
            <a:r>
              <a:rPr lang="en-JP" sz="2000" dirty="0"/>
              <a:t>X-axis indicates the position in the read</a:t>
            </a:r>
          </a:p>
          <a:p>
            <a:endParaRPr lang="en-JP" sz="2000" dirty="0"/>
          </a:p>
          <a:p>
            <a:r>
              <a:rPr lang="en-JP" sz="2000" dirty="0"/>
              <a:t>Y-axis indicates the percent of N bases at that position</a:t>
            </a:r>
          </a:p>
          <a:p>
            <a:endParaRPr lang="en-JP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DC962-0082-1F8F-7EA5-058376DB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23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22411-8892-1156-888D-FD1D01706093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</a:t>
            </a:r>
            <a:r>
              <a:rPr lang="en-JP" dirty="0"/>
              <a:t>Babraham Informatics website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39046D4F-22E7-E8C1-7E1B-68BD53E05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54" y="1729372"/>
            <a:ext cx="5673446" cy="4255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835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DFDC2-D398-E406-921A-51F92BADC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9572-CF71-59D7-3854-BDD8300C7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base 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4E872-DFE1-5572-1E59-A791722AD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0" y="1825625"/>
            <a:ext cx="4610100" cy="4351338"/>
          </a:xfrm>
        </p:spPr>
        <p:txBody>
          <a:bodyPr>
            <a:normAutofit/>
          </a:bodyPr>
          <a:lstStyle/>
          <a:p>
            <a:r>
              <a:rPr lang="en-JP" sz="2000" dirty="0"/>
              <a:t>It is normal to have a small percentage of N</a:t>
            </a:r>
          </a:p>
          <a:p>
            <a:endParaRPr lang="en-JP" sz="2000" dirty="0"/>
          </a:p>
          <a:p>
            <a:r>
              <a:rPr lang="en-JP" sz="2000" dirty="0"/>
              <a:t>However, if the percentage of N is high, then that could indicate a problem (because it means that there were many bases that could not be identified with confidence)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FE602-7EA6-7867-D651-15A26AFC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24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81E60-FAF2-E89B-59C8-517737DD793D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</a:t>
            </a:r>
            <a:r>
              <a:rPr lang="en-JP" dirty="0"/>
              <a:t>Babraham Informatics website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DBEA78E5-59BE-83D6-5425-ECAC24802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54" y="1729372"/>
            <a:ext cx="5673446" cy="4255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532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B046D-5C3B-2174-26BF-A17E08455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57F3-CAF6-873E-61F4-9AD1344F3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Per base 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C7908-AB34-A0D6-A53C-1A97A37EC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0" y="1825625"/>
            <a:ext cx="4610100" cy="4351338"/>
          </a:xfrm>
        </p:spPr>
        <p:txBody>
          <a:bodyPr>
            <a:normAutofit/>
          </a:bodyPr>
          <a:lstStyle/>
          <a:p>
            <a:r>
              <a:rPr lang="en-JP" sz="2000" dirty="0"/>
              <a:t>Let’s look at the per base N content of graph in the PDF file</a:t>
            </a:r>
          </a:p>
          <a:p>
            <a:endParaRPr lang="en-JP" sz="2000" dirty="0"/>
          </a:p>
          <a:p>
            <a:r>
              <a:rPr lang="en-JP" sz="2000" dirty="0"/>
              <a:t>The N content is practically zero</a:t>
            </a:r>
          </a:p>
          <a:p>
            <a:endParaRPr lang="en-JP" sz="2000" dirty="0"/>
          </a:p>
          <a:p>
            <a:r>
              <a:rPr lang="en-JP" sz="2000" dirty="0"/>
              <a:t>This is </a:t>
            </a:r>
            <a:r>
              <a:rPr lang="en-JP" sz="2000" u="sng" dirty="0"/>
              <a:t>good news</a:t>
            </a:r>
            <a:r>
              <a:rPr lang="en-JP" sz="2000" dirty="0"/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8DCED-321C-4ACC-9369-B34936691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25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32F9E8-5E9B-8AE9-0754-2C4E13495432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PDF file</a:t>
            </a:r>
            <a:endParaRPr lang="en-JP" dirty="0"/>
          </a:p>
        </p:txBody>
      </p:sp>
      <p:pic>
        <p:nvPicPr>
          <p:cNvPr id="6" name="Picture 5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1BB51D6A-CCFC-4C48-3A96-CFF8A8757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14" y="1690688"/>
            <a:ext cx="5805488" cy="422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81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0E398-701F-C199-7F2E-7D13DB6E8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CD60-0CB3-4CE7-AD29-8E4E247B9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Sequence length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5B187-B2B2-C2FF-034F-38C2B2F0F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699" y="1825625"/>
            <a:ext cx="4938963" cy="4351338"/>
          </a:xfrm>
        </p:spPr>
        <p:txBody>
          <a:bodyPr>
            <a:normAutofit fontScale="85000" lnSpcReduction="20000"/>
          </a:bodyPr>
          <a:lstStyle/>
          <a:p>
            <a:r>
              <a:rPr lang="en-JP" sz="2000" dirty="0"/>
              <a:t>Some sequencers produce sequences of uniform lengths.</a:t>
            </a:r>
          </a:p>
          <a:p>
            <a:endParaRPr lang="en-JP" sz="2000" dirty="0"/>
          </a:p>
          <a:p>
            <a:r>
              <a:rPr lang="en-JP" sz="2000" dirty="0"/>
              <a:t>However, there are also some sequences that produce sequences of various lengths.</a:t>
            </a:r>
          </a:p>
          <a:p>
            <a:endParaRPr lang="en-JP" sz="2000" dirty="0"/>
          </a:p>
          <a:p>
            <a:r>
              <a:rPr lang="en-JP" sz="2000" dirty="0"/>
              <a:t>This graph shows the distribution of sequence lengths.</a:t>
            </a:r>
          </a:p>
          <a:p>
            <a:endParaRPr lang="en-JP" sz="2000" dirty="0"/>
          </a:p>
          <a:p>
            <a:r>
              <a:rPr lang="en-JP" sz="2000" dirty="0"/>
              <a:t>The X-axis indicates sequence length.</a:t>
            </a:r>
          </a:p>
          <a:p>
            <a:endParaRPr lang="en-JP" sz="2000" dirty="0"/>
          </a:p>
          <a:p>
            <a:r>
              <a:rPr lang="en-JP" sz="2000" dirty="0"/>
              <a:t>The Y-axis indicates the number of sequences having that particular length</a:t>
            </a:r>
          </a:p>
          <a:p>
            <a:endParaRPr lang="en-JP" sz="2000" dirty="0"/>
          </a:p>
          <a:p>
            <a:r>
              <a:rPr lang="en-JP" sz="2000" dirty="0"/>
              <a:t>In this case, the sequencer produced sequences of various lengths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E6557-D538-A9F1-D54E-B3AB0FAB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26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EB262D-28A3-D2AA-198F-E40EA63465E1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</a:t>
            </a:r>
            <a:r>
              <a:rPr lang="en-US" dirty="0" err="1"/>
              <a:t>Babraham</a:t>
            </a:r>
            <a:r>
              <a:rPr lang="en-US" dirty="0"/>
              <a:t> Bioinformatics website</a:t>
            </a:r>
            <a:endParaRPr lang="en-JP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AE611ED8-B259-462A-0833-14F29F4B4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42" y="1690688"/>
            <a:ext cx="5394158" cy="404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426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7F182-13A0-3474-5697-E144770F8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464C2-154C-1324-BD9B-9D57D1D7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Sequence length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D19A1-786E-2E22-36FA-A1B8D60D9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0" y="1825625"/>
            <a:ext cx="4828926" cy="4351338"/>
          </a:xfrm>
        </p:spPr>
        <p:txBody>
          <a:bodyPr>
            <a:normAutofit/>
          </a:bodyPr>
          <a:lstStyle/>
          <a:p>
            <a:r>
              <a:rPr lang="en-JP" sz="2000" dirty="0"/>
              <a:t>Let’s look at the example in the PDF file</a:t>
            </a:r>
          </a:p>
          <a:p>
            <a:endParaRPr lang="en-JP" sz="2000" dirty="0"/>
          </a:p>
          <a:p>
            <a:r>
              <a:rPr lang="en-JP" sz="2000" dirty="0"/>
              <a:t>All reads have length 76</a:t>
            </a:r>
          </a:p>
          <a:p>
            <a:endParaRPr lang="en-JP" sz="2000" dirty="0"/>
          </a:p>
          <a:p>
            <a:r>
              <a:rPr lang="en-JP" sz="2000" dirty="0"/>
              <a:t>In this graph, the sequences are of uniform length (unlike the previous graph)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CF887-273F-DB4C-D6C2-893D5F1CA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27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1DE5D-B230-5F5C-AB42-90FE1E0831E9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PDF file</a:t>
            </a:r>
            <a:endParaRPr lang="en-JP" dirty="0"/>
          </a:p>
        </p:txBody>
      </p:sp>
      <p:pic>
        <p:nvPicPr>
          <p:cNvPr id="6" name="Picture 5" descr="A graph with a red line&#10;&#10;Description automatically generated">
            <a:extLst>
              <a:ext uri="{FF2B5EF4-FFF2-40B4-BE49-F238E27FC236}">
                <a16:creationId xmlns:a16="http://schemas.microsoft.com/office/drawing/2014/main" id="{09E60372-E478-A1BF-5BE6-89E2B7990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75" y="1690688"/>
            <a:ext cx="5768245" cy="428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53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ED52E-0590-8620-17F1-CEA52F57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8B74-4B74-07FB-3CA3-9AFC9B04E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Basic statistics</a:t>
            </a:r>
          </a:p>
        </p:txBody>
      </p:sp>
      <p:pic>
        <p:nvPicPr>
          <p:cNvPr id="5" name="Content Placeholder 4" descr="A white sheet with black text&#10;&#10;Description automatically generated">
            <a:extLst>
              <a:ext uri="{FF2B5EF4-FFF2-40B4-BE49-F238E27FC236}">
                <a16:creationId xmlns:a16="http://schemas.microsoft.com/office/drawing/2014/main" id="{FFC13B03-B9DF-33FA-D5AB-CBBC85813D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655" t="20471" r="4299"/>
          <a:stretch/>
        </p:blipFill>
        <p:spPr>
          <a:xfrm>
            <a:off x="308758" y="1690688"/>
            <a:ext cx="6887689" cy="359341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89CE76-8703-9ADA-7E42-B9247FFE558A}"/>
              </a:ext>
            </a:extLst>
          </p:cNvPr>
          <p:cNvSpPr txBox="1"/>
          <p:nvPr/>
        </p:nvSpPr>
        <p:spPr>
          <a:xfrm>
            <a:off x="7327076" y="2210125"/>
            <a:ext cx="46551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2000" dirty="0"/>
              <a:t>Do you remember this slide?</a:t>
            </a:r>
          </a:p>
          <a:p>
            <a:pPr algn="ctr"/>
            <a:endParaRPr lang="en-JP" sz="2000" dirty="0"/>
          </a:p>
          <a:p>
            <a:pPr algn="ctr"/>
            <a:r>
              <a:rPr lang="en-JP" sz="2000" dirty="0"/>
              <a:t>As you can see, the sequence length is indicated as “76” in the basic statistics.</a:t>
            </a:r>
          </a:p>
          <a:p>
            <a:pPr algn="ctr"/>
            <a:endParaRPr lang="en-JP" sz="2000" dirty="0"/>
          </a:p>
          <a:p>
            <a:pPr algn="ctr"/>
            <a:r>
              <a:rPr lang="en-JP" sz="2000" dirty="0"/>
              <a:t>This means all sequences are of the same length. </a:t>
            </a:r>
          </a:p>
          <a:p>
            <a:pPr algn="ctr"/>
            <a:endParaRPr lang="en-JP" sz="2000" dirty="0"/>
          </a:p>
          <a:p>
            <a:pPr algn="ctr"/>
            <a:r>
              <a:rPr lang="en-JP" sz="2000" dirty="0"/>
              <a:t>If the sequences were of different lengths, then the sequence length will be indicated as a range of values (from the minimum length to the maximum length)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5C136C-F105-12AC-03E5-BB9324FF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28</a:t>
            </a:fld>
            <a:endParaRPr lang="en-JP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08130D1-4768-B6BC-47C0-B222A038862C}"/>
              </a:ext>
            </a:extLst>
          </p:cNvPr>
          <p:cNvSpPr/>
          <p:nvPr/>
        </p:nvSpPr>
        <p:spPr>
          <a:xfrm>
            <a:off x="391886" y="4180114"/>
            <a:ext cx="4488872" cy="4750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090956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97098-DBA2-DFA7-F4D4-C93A6CEBB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E8F88-4845-31D2-8121-F8CE56A73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Sequence length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6467A-36DA-41BA-39D7-532089693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0" y="1825625"/>
            <a:ext cx="4828926" cy="4351338"/>
          </a:xfrm>
        </p:spPr>
        <p:txBody>
          <a:bodyPr>
            <a:normAutofit/>
          </a:bodyPr>
          <a:lstStyle/>
          <a:p>
            <a:r>
              <a:rPr lang="en-JP" sz="2000" dirty="0"/>
              <a:t>Therefore, this graph is consistent with the sequence length indicated in the basic statistics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36CEF-7302-3835-54A1-96682E54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29</a:t>
            </a:fld>
            <a:endParaRPr lang="en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86192-80BA-C9AB-BF51-5CB2DD854D5A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PDF file</a:t>
            </a:r>
            <a:endParaRPr lang="en-JP" dirty="0"/>
          </a:p>
        </p:txBody>
      </p:sp>
      <p:pic>
        <p:nvPicPr>
          <p:cNvPr id="6" name="Picture 5" descr="A graph with a red line&#10;&#10;Description automatically generated">
            <a:extLst>
              <a:ext uri="{FF2B5EF4-FFF2-40B4-BE49-F238E27FC236}">
                <a16:creationId xmlns:a16="http://schemas.microsoft.com/office/drawing/2014/main" id="{BCF039D7-A339-13F9-C48A-F603AD035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75" y="1690688"/>
            <a:ext cx="5768245" cy="428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1029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300B7-AEE9-6DA7-C165-93C46AE9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40961-6166-F8F6-CE0B-E48C5F4B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Sequence duplication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62881-0BB1-2B4F-A9FD-1E58B904F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699" y="1825625"/>
            <a:ext cx="4938963" cy="4351338"/>
          </a:xfrm>
        </p:spPr>
        <p:txBody>
          <a:bodyPr>
            <a:normAutofit lnSpcReduction="10000"/>
          </a:bodyPr>
          <a:lstStyle/>
          <a:p>
            <a:r>
              <a:rPr lang="en-JP" sz="2000" dirty="0"/>
              <a:t>Most sequences will occur only once, without any other sequences that are identical to it (i.e., no duplication).</a:t>
            </a:r>
          </a:p>
          <a:p>
            <a:pPr marL="0" indent="0">
              <a:buNone/>
            </a:pPr>
            <a:endParaRPr lang="en-JP" sz="2000" dirty="0"/>
          </a:p>
          <a:p>
            <a:r>
              <a:rPr lang="en-JP" sz="2000" dirty="0"/>
              <a:t>However, in some cases, sequences can be duplicated</a:t>
            </a:r>
          </a:p>
          <a:p>
            <a:endParaRPr lang="en-JP" sz="2000" dirty="0"/>
          </a:p>
          <a:p>
            <a:r>
              <a:rPr lang="en-JP" sz="2000" dirty="0"/>
              <a:t>If the level of sequencing coverage is very high, then duplication may occur </a:t>
            </a:r>
          </a:p>
          <a:p>
            <a:endParaRPr lang="en-JP" sz="2000" dirty="0"/>
          </a:p>
          <a:p>
            <a:r>
              <a:rPr lang="en-JP" sz="2000" dirty="0"/>
              <a:t>Another possible cause of duplication is enrichment bias (e.g., PCR over-amplification).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658D4-1B4A-0571-FDBA-657402CF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30</a:t>
            </a:fld>
            <a:endParaRPr lang="en-J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132D0-58A6-3A46-E8C7-19529013C69F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PDF file</a:t>
            </a:r>
            <a:endParaRPr lang="en-JP" dirty="0"/>
          </a:p>
        </p:txBody>
      </p:sp>
      <p:pic>
        <p:nvPicPr>
          <p:cNvPr id="6" name="Picture 5" descr="A graph with a line going down&#10;&#10;Description automatically generated">
            <a:extLst>
              <a:ext uri="{FF2B5EF4-FFF2-40B4-BE49-F238E27FC236}">
                <a16:creationId xmlns:a16="http://schemas.microsoft.com/office/drawing/2014/main" id="{78A78CD3-CD2B-1F33-73F0-C63B807AA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89" y="1567166"/>
            <a:ext cx="5933890" cy="447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96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0E997-1715-EF48-EF09-185AB72F6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D300-D06C-9B8F-6C68-84568A21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Sequence duplication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9B6EB-0589-C5E6-9B31-64D0114D3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699" y="1825625"/>
            <a:ext cx="4938963" cy="4351338"/>
          </a:xfrm>
        </p:spPr>
        <p:txBody>
          <a:bodyPr>
            <a:normAutofit lnSpcReduction="10000"/>
          </a:bodyPr>
          <a:lstStyle/>
          <a:p>
            <a:r>
              <a:rPr lang="en-JP" sz="2000" dirty="0"/>
              <a:t>The X-axis indicates duplication level</a:t>
            </a:r>
          </a:p>
          <a:p>
            <a:endParaRPr lang="en-JP" sz="2000" dirty="0"/>
          </a:p>
          <a:p>
            <a:r>
              <a:rPr lang="en-JP" sz="2000" dirty="0"/>
              <a:t>The Y-axis indicates the percentage of sequences </a:t>
            </a:r>
          </a:p>
          <a:p>
            <a:endParaRPr lang="en-JP" sz="2000" dirty="0"/>
          </a:p>
          <a:p>
            <a:r>
              <a:rPr lang="en-JP" sz="2000" dirty="0"/>
              <a:t>This graph shows the percent of sequences that belong to each duplication level.</a:t>
            </a:r>
          </a:p>
          <a:p>
            <a:endParaRPr lang="en-JP" sz="2000" dirty="0"/>
          </a:p>
          <a:p>
            <a:r>
              <a:rPr lang="en-JP" sz="2000" dirty="0"/>
              <a:t>The number at the top of the graph </a:t>
            </a:r>
            <a:r>
              <a:rPr lang="en-JP" sz="2000" dirty="0">
                <a:solidFill>
                  <a:srgbClr val="FF0000"/>
                </a:solidFill>
              </a:rPr>
              <a:t>(red circle)</a:t>
            </a:r>
            <a:r>
              <a:rPr lang="en-JP" sz="2000" dirty="0"/>
              <a:t> indicates the percent of sequences that would remain in the duplicates were removed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FD84A-7988-9AAE-4F98-F2CAC2E8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31</a:t>
            </a:fld>
            <a:endParaRPr lang="en-J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E895A-AE62-142D-4C60-F9FA02101459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PDF file</a:t>
            </a:r>
            <a:endParaRPr lang="en-JP" dirty="0"/>
          </a:p>
        </p:txBody>
      </p:sp>
      <p:pic>
        <p:nvPicPr>
          <p:cNvPr id="6" name="Picture 5" descr="A graph with a line going down&#10;&#10;Description automatically generated">
            <a:extLst>
              <a:ext uri="{FF2B5EF4-FFF2-40B4-BE49-F238E27FC236}">
                <a16:creationId xmlns:a16="http://schemas.microsoft.com/office/drawing/2014/main" id="{9F1CA496-4653-6184-F789-E810C8E40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89" y="1567166"/>
            <a:ext cx="5933890" cy="447562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432BE2B-C0A9-367A-3B91-282509AB82AC}"/>
              </a:ext>
            </a:extLst>
          </p:cNvPr>
          <p:cNvSpPr/>
          <p:nvPr/>
        </p:nvSpPr>
        <p:spPr>
          <a:xfrm>
            <a:off x="2245392" y="1524302"/>
            <a:ext cx="2815390" cy="4300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7178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C4ECB-3C35-4825-0B7E-0EF01D4B8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4652-8333-0B62-7BC1-91670DEDB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Overrepresented 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10F9C-50E3-5954-F744-6C617830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32</a:t>
            </a:fld>
            <a:endParaRPr lang="en-J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C1FCEA-73B8-1672-74C5-DF800AE0F50D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PDF file</a:t>
            </a:r>
            <a:endParaRPr lang="en-JP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0C0859-87A0-2ECE-E0AE-0A128155D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1312" y="1825625"/>
            <a:ext cx="5112488" cy="4351338"/>
          </a:xfrm>
        </p:spPr>
        <p:txBody>
          <a:bodyPr>
            <a:normAutofit fontScale="70000" lnSpcReduction="20000"/>
          </a:bodyPr>
          <a:lstStyle/>
          <a:p>
            <a:r>
              <a:rPr lang="en-JP" sz="2400" dirty="0"/>
              <a:t>Shows the list of sequences that are overrepresented in the data set</a:t>
            </a:r>
          </a:p>
          <a:p>
            <a:endParaRPr lang="en-JP" sz="2400" dirty="0"/>
          </a:p>
          <a:p>
            <a:r>
              <a:rPr lang="en-JP" sz="2400" dirty="0"/>
              <a:t>Shows the count and percentage of the overrepresented.</a:t>
            </a:r>
          </a:p>
          <a:p>
            <a:endParaRPr lang="en-JP" sz="2400" dirty="0"/>
          </a:p>
          <a:p>
            <a:r>
              <a:rPr lang="en-JP" sz="2400" dirty="0"/>
              <a:t>Also shows the possible source of the overrepresented sequences (e.g., known contaminants).</a:t>
            </a:r>
          </a:p>
          <a:p>
            <a:endParaRPr lang="en-JP" sz="2400" dirty="0"/>
          </a:p>
          <a:p>
            <a:r>
              <a:rPr lang="en-JP" sz="2400" dirty="0"/>
              <a:t>For the “possible source”, the program searches a database of known contaminants and checks if there is a contaminant which matches the overrepresented sequence</a:t>
            </a:r>
          </a:p>
          <a:p>
            <a:endParaRPr lang="en-JP" sz="2400" dirty="0"/>
          </a:p>
          <a:p>
            <a:r>
              <a:rPr lang="en-JP" sz="2400" dirty="0"/>
              <a:t>In this data set, there are no known contaminants which match the overrepresented sequences</a:t>
            </a:r>
          </a:p>
        </p:txBody>
      </p:sp>
      <p:pic>
        <p:nvPicPr>
          <p:cNvPr id="17" name="Picture 16" descr="A screenshot of a dna sequence&#10;&#10;Description automatically generated">
            <a:extLst>
              <a:ext uri="{FF2B5EF4-FFF2-40B4-BE49-F238E27FC236}">
                <a16:creationId xmlns:a16="http://schemas.microsoft.com/office/drawing/2014/main" id="{949CC720-DB37-D4E7-988A-A83D00B07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07" y="1563319"/>
            <a:ext cx="5598968" cy="2263079"/>
          </a:xfrm>
          <a:prstGeom prst="rect">
            <a:avLst/>
          </a:prstGeom>
        </p:spPr>
      </p:pic>
      <p:pic>
        <p:nvPicPr>
          <p:cNvPr id="19" name="Picture 18" descr="A table of numbers and symbols&#10;&#10;Description automatically generated">
            <a:extLst>
              <a:ext uri="{FF2B5EF4-FFF2-40B4-BE49-F238E27FC236}">
                <a16:creationId xmlns:a16="http://schemas.microsoft.com/office/drawing/2014/main" id="{BFF97BEA-7DC8-6522-33B3-7408CEDD3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09" y="3748092"/>
            <a:ext cx="5378450" cy="226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076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C0308-75C4-4E2A-F413-CEE0C9932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A1854-D9FB-4142-1F90-27354F978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JP" dirty="0"/>
              <a:t>Adapter content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68403-77DD-BB24-2074-136C3C5A2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C7A9D-8D4C-B340-B6E8-30A10B5799EB}" type="slidenum">
              <a:rPr lang="en-JP" smtClean="0"/>
              <a:t>33</a:t>
            </a:fld>
            <a:endParaRPr lang="en-J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03DD8-BC68-1037-D2DE-8B50DC9CD58E}"/>
              </a:ext>
            </a:extLst>
          </p:cNvPr>
          <p:cNvSpPr txBox="1"/>
          <p:nvPr/>
        </p:nvSpPr>
        <p:spPr>
          <a:xfrm>
            <a:off x="838200" y="6186492"/>
            <a:ext cx="580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Example from t</a:t>
            </a:r>
            <a:r>
              <a:rPr lang="en-US" dirty="0"/>
              <a:t>he PDF file</a:t>
            </a:r>
            <a:endParaRPr lang="en-JP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1CCAE2-F4A8-B50E-D8CE-7B2A539BC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1312" y="1825625"/>
            <a:ext cx="5112488" cy="4351338"/>
          </a:xfrm>
        </p:spPr>
        <p:txBody>
          <a:bodyPr>
            <a:normAutofit/>
          </a:bodyPr>
          <a:lstStyle/>
          <a:p>
            <a:r>
              <a:rPr lang="en-JP" sz="2400" dirty="0"/>
              <a:t>The program checks the sequencing data for the presence of known adapters</a:t>
            </a:r>
          </a:p>
          <a:p>
            <a:endParaRPr lang="en-JP" sz="2400" dirty="0"/>
          </a:p>
          <a:p>
            <a:r>
              <a:rPr lang="en-JP" sz="2400" dirty="0"/>
              <a:t>In this graph, the adapter content is zero for all the known adapters listed in the graph</a:t>
            </a:r>
          </a:p>
          <a:p>
            <a:endParaRPr lang="en-JP" sz="2400" dirty="0"/>
          </a:p>
          <a:p>
            <a:r>
              <a:rPr lang="en-JP" sz="2400" dirty="0"/>
              <a:t>Therefore, we don’t have to worry about the presence of such adapters in this data set</a:t>
            </a:r>
          </a:p>
        </p:txBody>
      </p:sp>
      <p:pic>
        <p:nvPicPr>
          <p:cNvPr id="5" name="Picture 4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7B0C118F-9516-E167-7BFA-8BBE1A7A2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7388"/>
            <a:ext cx="6154893" cy="383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17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1645</Words>
  <Application>Microsoft Macintosh PowerPoint</Application>
  <PresentationFormat>Widescreen</PresentationFormat>
  <Paragraphs>266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FastQC  report</vt:lpstr>
      <vt:lpstr>Basic statistics</vt:lpstr>
      <vt:lpstr>Basic statistics</vt:lpstr>
      <vt:lpstr>Per base sequence quality</vt:lpstr>
      <vt:lpstr>Per base sequence quality</vt:lpstr>
      <vt:lpstr>Per base sequence quality</vt:lpstr>
      <vt:lpstr>Per base sequence quality</vt:lpstr>
      <vt:lpstr>Per tile sequence quality</vt:lpstr>
      <vt:lpstr>Per tile sequence quality</vt:lpstr>
      <vt:lpstr>Per tile sequence quality</vt:lpstr>
      <vt:lpstr>Per sequence quality scores</vt:lpstr>
      <vt:lpstr>Per sequence quality scores</vt:lpstr>
      <vt:lpstr>Per sequence quality scores</vt:lpstr>
      <vt:lpstr>Per base sequence content</vt:lpstr>
      <vt:lpstr>Per base sequence content</vt:lpstr>
      <vt:lpstr>Per base sequence content</vt:lpstr>
      <vt:lpstr>Per base sequence content</vt:lpstr>
      <vt:lpstr>Per base sequence content</vt:lpstr>
      <vt:lpstr>Per base sequence content</vt:lpstr>
      <vt:lpstr>Per sequence GC content</vt:lpstr>
      <vt:lpstr>Per sequence GC content</vt:lpstr>
      <vt:lpstr>Per sequence GC content</vt:lpstr>
      <vt:lpstr>Per base N content</vt:lpstr>
      <vt:lpstr>Per base N content</vt:lpstr>
      <vt:lpstr>Per base N content</vt:lpstr>
      <vt:lpstr>Sequence length distribution</vt:lpstr>
      <vt:lpstr>Sequence length distribution</vt:lpstr>
      <vt:lpstr>Basic statistics</vt:lpstr>
      <vt:lpstr>Sequence length distribution</vt:lpstr>
      <vt:lpstr>Sequence duplication levels</vt:lpstr>
      <vt:lpstr>Sequence duplication levels</vt:lpstr>
      <vt:lpstr>Overrepresented sequences</vt:lpstr>
      <vt:lpstr>Adapter 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saldajeno.donpietro.4f@ms.c.kyoto-u.ac.jp</dc:creator>
  <cp:lastModifiedBy>saldajeno.donpietro.4f@ms.c.kyoto-u.ac.jp</cp:lastModifiedBy>
  <cp:revision>107</cp:revision>
  <dcterms:created xsi:type="dcterms:W3CDTF">2024-10-18T06:59:06Z</dcterms:created>
  <dcterms:modified xsi:type="dcterms:W3CDTF">2024-10-22T06:30:10Z</dcterms:modified>
</cp:coreProperties>
</file>